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Play"/>
      <p:regular r:id="rId20"/>
      <p:bold r:id="rId21"/>
    </p:embeddedFont>
    <p:embeddedFont>
      <p:font typeface="Montserrat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regular.fntdata"/><Relationship Id="rId22" Type="http://schemas.openxmlformats.org/officeDocument/2006/relationships/font" Target="fonts/Montserrat-regular.fntdata"/><Relationship Id="rId21" Type="http://schemas.openxmlformats.org/officeDocument/2006/relationships/font" Target="fonts/Play-bold.fnt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Cole: intro and readme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86f36c77f_3_2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86f36c77f_3_2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605596c2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e605596c2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86f36c77f_2_7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d86f36c77f_2_7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Cesar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8778e80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d8778e80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Cesar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87b5d709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d87b5d709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Eric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86f36c77f_3_2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d86f36c77f_3_2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86f36c77f_3_2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d86f36c77f_3_2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d86f36c77f_2_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d86f36c77f_2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Eric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86f36c77f_2_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d86f36c77f_2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Eric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06faaaee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e06faaaee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Eric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8778e80d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d8778e80d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Cesar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8778e80d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d8778e80d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Cesar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d87b5d709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d87b5d709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/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1" type="subTitle"/>
          </p:nvPr>
        </p:nvSpPr>
        <p:spPr>
          <a:xfrm>
            <a:off x="1805875" y="1710450"/>
            <a:ext cx="2687700" cy="445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13"/>
          <p:cNvSpPr txBox="1"/>
          <p:nvPr>
            <p:ph idx="2" type="subTitle"/>
          </p:nvPr>
        </p:nvSpPr>
        <p:spPr>
          <a:xfrm>
            <a:off x="1805875" y="1329200"/>
            <a:ext cx="26877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3" type="subTitle"/>
          </p:nvPr>
        </p:nvSpPr>
        <p:spPr>
          <a:xfrm>
            <a:off x="1805875" y="4077725"/>
            <a:ext cx="2687700" cy="445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13"/>
          <p:cNvSpPr txBox="1"/>
          <p:nvPr>
            <p:ph idx="4" type="subTitle"/>
          </p:nvPr>
        </p:nvSpPr>
        <p:spPr>
          <a:xfrm>
            <a:off x="1805875" y="3696475"/>
            <a:ext cx="26877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36" name="Google Shape;136;p13"/>
          <p:cNvSpPr txBox="1"/>
          <p:nvPr>
            <p:ph idx="5" type="subTitle"/>
          </p:nvPr>
        </p:nvSpPr>
        <p:spPr>
          <a:xfrm>
            <a:off x="1805875" y="2894088"/>
            <a:ext cx="2687700" cy="445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6" type="subTitle"/>
          </p:nvPr>
        </p:nvSpPr>
        <p:spPr>
          <a:xfrm>
            <a:off x="1805875" y="2512838"/>
            <a:ext cx="26877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38" name="Google Shape;138;p13"/>
          <p:cNvSpPr txBox="1"/>
          <p:nvPr>
            <p:ph idx="7" type="subTitle"/>
          </p:nvPr>
        </p:nvSpPr>
        <p:spPr>
          <a:xfrm>
            <a:off x="5660750" y="1710450"/>
            <a:ext cx="2687700" cy="445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13"/>
          <p:cNvSpPr txBox="1"/>
          <p:nvPr>
            <p:ph idx="8" type="subTitle"/>
          </p:nvPr>
        </p:nvSpPr>
        <p:spPr>
          <a:xfrm>
            <a:off x="5660750" y="1329200"/>
            <a:ext cx="26877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40" name="Google Shape;140;p13"/>
          <p:cNvSpPr txBox="1"/>
          <p:nvPr>
            <p:ph idx="9" type="subTitle"/>
          </p:nvPr>
        </p:nvSpPr>
        <p:spPr>
          <a:xfrm>
            <a:off x="5660750" y="4077725"/>
            <a:ext cx="2687700" cy="445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13"/>
          <p:cNvSpPr txBox="1"/>
          <p:nvPr>
            <p:ph idx="13" type="subTitle"/>
          </p:nvPr>
        </p:nvSpPr>
        <p:spPr>
          <a:xfrm>
            <a:off x="5660750" y="3696475"/>
            <a:ext cx="26877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42" name="Google Shape;142;p13"/>
          <p:cNvSpPr txBox="1"/>
          <p:nvPr>
            <p:ph idx="14" type="subTitle"/>
          </p:nvPr>
        </p:nvSpPr>
        <p:spPr>
          <a:xfrm>
            <a:off x="5660750" y="2894088"/>
            <a:ext cx="2687700" cy="445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13"/>
          <p:cNvSpPr txBox="1"/>
          <p:nvPr>
            <p:ph idx="15" type="subTitle"/>
          </p:nvPr>
        </p:nvSpPr>
        <p:spPr>
          <a:xfrm>
            <a:off x="5660750" y="2512838"/>
            <a:ext cx="2687700" cy="38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b="1" sz="2000"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grpSp>
        <p:nvGrpSpPr>
          <p:cNvPr id="144" name="Google Shape;144;p13"/>
          <p:cNvGrpSpPr/>
          <p:nvPr/>
        </p:nvGrpSpPr>
        <p:grpSpPr>
          <a:xfrm rot="10800000">
            <a:off x="7218810" y="-1747902"/>
            <a:ext cx="3021722" cy="3146276"/>
            <a:chOff x="-1064015" y="2306598"/>
            <a:chExt cx="3021722" cy="3146276"/>
          </a:xfrm>
        </p:grpSpPr>
        <p:sp>
          <p:nvSpPr>
            <p:cNvPr id="145" name="Google Shape;145;p13"/>
            <p:cNvSpPr/>
            <p:nvPr/>
          </p:nvSpPr>
          <p:spPr>
            <a:xfrm rot="-2716073">
              <a:off x="-731526" y="2981210"/>
              <a:ext cx="2356744" cy="1918711"/>
            </a:xfrm>
            <a:custGeom>
              <a:rect b="b" l="l" r="r" t="t"/>
              <a:pathLst>
                <a:path extrusionOk="0" fill="none" h="34521" w="42402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518938" y="2306598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3"/>
            <p:cNvSpPr/>
            <p:nvPr/>
          </p:nvSpPr>
          <p:spPr>
            <a:xfrm rot="-2716073">
              <a:off x="-731526" y="2981210"/>
              <a:ext cx="2356744" cy="1918711"/>
            </a:xfrm>
            <a:custGeom>
              <a:rect b="b" l="l" r="r" t="t"/>
              <a:pathLst>
                <a:path extrusionOk="0" fill="none" h="34521" w="42402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518938" y="2306598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" name="Google Shape;149;p13"/>
          <p:cNvGrpSpPr/>
          <p:nvPr/>
        </p:nvGrpSpPr>
        <p:grpSpPr>
          <a:xfrm rot="10800000">
            <a:off x="-66225" y="2050490"/>
            <a:ext cx="618526" cy="5831511"/>
            <a:chOff x="8626375" y="-2137135"/>
            <a:chExt cx="618526" cy="5831511"/>
          </a:xfrm>
        </p:grpSpPr>
        <p:sp>
          <p:nvSpPr>
            <p:cNvPr id="150" name="Google Shape;150;p13"/>
            <p:cNvSpPr/>
            <p:nvPr/>
          </p:nvSpPr>
          <p:spPr>
            <a:xfrm flipH="1" rot="10800000">
              <a:off x="8754318" y="-2137135"/>
              <a:ext cx="490583" cy="5831511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 rot="-5400000">
              <a:off x="8403006" y="2019204"/>
              <a:ext cx="714890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3"/>
            <p:cNvSpPr/>
            <p:nvPr/>
          </p:nvSpPr>
          <p:spPr>
            <a:xfrm flipH="1" rot="10800000">
              <a:off x="8754318" y="-2137135"/>
              <a:ext cx="490583" cy="5831511"/>
            </a:xfrm>
            <a:custGeom>
              <a:rect b="b" l="l" r="r" t="t"/>
              <a:pathLst>
                <a:path extrusionOk="0" fill="none" h="43827" w="3687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3"/>
            <p:cNvSpPr/>
            <p:nvPr/>
          </p:nvSpPr>
          <p:spPr>
            <a:xfrm rot="-5400000">
              <a:off x="8403006" y="2019204"/>
              <a:ext cx="714890" cy="268151"/>
            </a:xfrm>
            <a:custGeom>
              <a:rect b="b" l="l" r="r" t="t"/>
              <a:pathLst>
                <a:path extrusionOk="0" h="1630" w="1552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" name="Google Shape;154;p13"/>
          <p:cNvGrpSpPr/>
          <p:nvPr/>
        </p:nvGrpSpPr>
        <p:grpSpPr>
          <a:xfrm>
            <a:off x="8749262" y="539535"/>
            <a:ext cx="117523" cy="519040"/>
            <a:chOff x="9744987" y="2954335"/>
            <a:chExt cx="117523" cy="519040"/>
          </a:xfrm>
        </p:grpSpPr>
        <p:sp>
          <p:nvSpPr>
            <p:cNvPr id="155" name="Google Shape;155;p13"/>
            <p:cNvSpPr/>
            <p:nvPr/>
          </p:nvSpPr>
          <p:spPr>
            <a:xfrm rot="-5400000">
              <a:off x="9744987" y="335585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3"/>
            <p:cNvSpPr/>
            <p:nvPr/>
          </p:nvSpPr>
          <p:spPr>
            <a:xfrm rot="-5400000">
              <a:off x="9744987" y="3155093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3"/>
            <p:cNvSpPr/>
            <p:nvPr/>
          </p:nvSpPr>
          <p:spPr>
            <a:xfrm rot="-5400000">
              <a:off x="9744987" y="295433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3"/>
            <p:cNvSpPr/>
            <p:nvPr/>
          </p:nvSpPr>
          <p:spPr>
            <a:xfrm rot="-5400000">
              <a:off x="9744987" y="3355852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3"/>
            <p:cNvSpPr/>
            <p:nvPr/>
          </p:nvSpPr>
          <p:spPr>
            <a:xfrm rot="-5400000">
              <a:off x="9744987" y="3155093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3"/>
            <p:cNvSpPr/>
            <p:nvPr/>
          </p:nvSpPr>
          <p:spPr>
            <a:xfrm rot="-5400000">
              <a:off x="9744987" y="2954335"/>
              <a:ext cx="117523" cy="117523"/>
            </a:xfrm>
            <a:custGeom>
              <a:rect b="b" l="l" r="r" t="t"/>
              <a:pathLst>
                <a:path extrusionOk="0" h="1630" w="163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rotWithShape="0" algn="bl" dist="19050">
                <a:schemeClr val="accent1">
                  <a:alpha val="7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1" name="Google Shape;161;p13"/>
          <p:cNvGrpSpPr/>
          <p:nvPr/>
        </p:nvGrpSpPr>
        <p:grpSpPr>
          <a:xfrm rot="5400000">
            <a:off x="-1353565" y="-944652"/>
            <a:ext cx="3021722" cy="3146276"/>
            <a:chOff x="-1064015" y="2306598"/>
            <a:chExt cx="3021722" cy="3146276"/>
          </a:xfrm>
        </p:grpSpPr>
        <p:sp>
          <p:nvSpPr>
            <p:cNvPr id="162" name="Google Shape;162;p13"/>
            <p:cNvSpPr/>
            <p:nvPr/>
          </p:nvSpPr>
          <p:spPr>
            <a:xfrm rot="-2716073">
              <a:off x="-731526" y="2981210"/>
              <a:ext cx="2356744" cy="1918711"/>
            </a:xfrm>
            <a:custGeom>
              <a:rect b="b" l="l" r="r" t="t"/>
              <a:pathLst>
                <a:path extrusionOk="0" fill="none" h="34521" w="42402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518938" y="2306598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3"/>
            <p:cNvSpPr/>
            <p:nvPr/>
          </p:nvSpPr>
          <p:spPr>
            <a:xfrm rot="-2716073">
              <a:off x="-731526" y="2981210"/>
              <a:ext cx="2356744" cy="1918711"/>
            </a:xfrm>
            <a:custGeom>
              <a:rect b="b" l="l" r="r" t="t"/>
              <a:pathLst>
                <a:path extrusionOk="0" fill="none" h="34521" w="42402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3"/>
            <p:cNvSpPr/>
            <p:nvPr/>
          </p:nvSpPr>
          <p:spPr>
            <a:xfrm>
              <a:off x="518938" y="2306598"/>
              <a:ext cx="150600" cy="150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85750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" name="Google Shape;166;p13"/>
          <p:cNvGrpSpPr/>
          <p:nvPr/>
        </p:nvGrpSpPr>
        <p:grpSpPr>
          <a:xfrm flipH="1">
            <a:off x="5149127" y="4880776"/>
            <a:ext cx="4088811" cy="4088811"/>
            <a:chOff x="-3640848" y="2185426"/>
            <a:chExt cx="4088811" cy="4088811"/>
          </a:xfrm>
        </p:grpSpPr>
        <p:sp>
          <p:nvSpPr>
            <p:cNvPr id="167" name="Google Shape;167;p13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3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rect b="b" l="l" r="r" t="t"/>
              <a:pathLst>
                <a:path extrusionOk="0" fill="none" h="21100" w="2110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miter lim="20365"/>
              <a:headEnd len="sm" w="sm" type="none"/>
              <a:tailEnd len="sm" w="sm" type="none"/>
            </a:ln>
            <a:effectLst>
              <a:outerShdw blurRad="128588" rotWithShape="0" algn="bl">
                <a:schemeClr val="accent1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MIPS Simulator</a:t>
            </a:r>
            <a:endParaRPr/>
          </a:p>
        </p:txBody>
      </p:sp>
      <p:sp>
        <p:nvSpPr>
          <p:cNvPr id="174" name="Google Shape;174;p14"/>
          <p:cNvSpPr txBox="1"/>
          <p:nvPr>
            <p:ph idx="1" type="subTitle"/>
          </p:nvPr>
        </p:nvSpPr>
        <p:spPr>
          <a:xfrm>
            <a:off x="4781175" y="3702050"/>
            <a:ext cx="3773400" cy="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Cole Estrin, </a:t>
            </a:r>
            <a:r>
              <a:rPr lang="en"/>
              <a:t>Mercury Ruane,</a:t>
            </a:r>
            <a:r>
              <a:rPr lang="en"/>
              <a:t> Eric Thompson,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Cesar Villarruel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Sections</a:t>
            </a:r>
            <a:endParaRPr/>
          </a:p>
        </p:txBody>
      </p:sp>
      <p:sp>
        <p:nvSpPr>
          <p:cNvPr id="180" name="Google Shape;180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Overview of Simulator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File Parser and Decoder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Instruction Memory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Register file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Data memory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ALU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CPU Class and State Registers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Simulator, Debug Mode and demo</a:t>
            </a:r>
            <a:br>
              <a:rPr lang="en"/>
            </a:b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186" name="Google Shape;186;p16"/>
          <p:cNvSpPr txBox="1"/>
          <p:nvPr>
            <p:ph idx="1" type="body"/>
          </p:nvPr>
        </p:nvSpPr>
        <p:spPr>
          <a:xfrm>
            <a:off x="1297500" y="15754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Languages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Python for main program structure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HTML, CSS, JS for simulator web page components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MicroArchitecture resides in the same space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CPU.py puts everything together and runs the simulator.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Simulator web page to </a:t>
            </a:r>
            <a:r>
              <a:rPr lang="en"/>
              <a:t>display</a:t>
            </a:r>
            <a:r>
              <a:rPr lang="en"/>
              <a:t> content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Parsing the File</a:t>
            </a:r>
            <a:endParaRPr/>
          </a:p>
        </p:txBody>
      </p:sp>
      <p:sp>
        <p:nvSpPr>
          <p:cNvPr id="192" name="Google Shape;192;p17"/>
          <p:cNvSpPr txBox="1"/>
          <p:nvPr>
            <p:ph idx="1" type="body"/>
          </p:nvPr>
        </p:nvSpPr>
        <p:spPr>
          <a:xfrm>
            <a:off x="798150" y="1395900"/>
            <a:ext cx="4320000" cy="3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Creates a </a:t>
            </a:r>
            <a:r>
              <a:rPr lang="en"/>
              <a:t>register</a:t>
            </a:r>
            <a:r>
              <a:rPr lang="en"/>
              <a:t> and instruction table containing </a:t>
            </a:r>
            <a:r>
              <a:rPr lang="en"/>
              <a:t>register</a:t>
            </a:r>
            <a:r>
              <a:rPr lang="en"/>
              <a:t> index,  instruction types, and opcode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Reads source text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Clean the text by removing comments, blank lines, and separating labels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Removes anything after ( # ) to strip comments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Trims whitespace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Skips empty lines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Checks for labels ( : 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Stores labels in dictionary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Keeps the actual instructions text stored in ‘lines’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3" name="Google Shape;1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9550" y="70275"/>
            <a:ext cx="2359850" cy="256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9350" y="2699325"/>
            <a:ext cx="2097050" cy="231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Decoding the File</a:t>
            </a:r>
            <a:endParaRPr/>
          </a:p>
        </p:txBody>
      </p:sp>
      <p:sp>
        <p:nvSpPr>
          <p:cNvPr id="200" name="Google Shape;200;p18"/>
          <p:cNvSpPr txBox="1"/>
          <p:nvPr>
            <p:ph idx="1" type="body"/>
          </p:nvPr>
        </p:nvSpPr>
        <p:spPr>
          <a:xfrm>
            <a:off x="735775" y="1307850"/>
            <a:ext cx="4460400" cy="3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Assembly gets turned into structured fields.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Tokenizes the line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Returns it into a structured format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Looks up instruction format in INSTRUCTION_TABLE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R, I, or J type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Builds a dictionary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Handles decoding based on instruction type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Register names are converted into their respective index based on the register dictionary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Converts instruction to binary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Builds final instruction list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Loops over every line, decodes, then appends to list</a:t>
            </a:r>
            <a:endParaRPr/>
          </a:p>
        </p:txBody>
      </p:sp>
      <p:pic>
        <p:nvPicPr>
          <p:cNvPr id="201" name="Google Shape;2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9800" y="1645963"/>
            <a:ext cx="2228550" cy="112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4850" y="94400"/>
            <a:ext cx="2311525" cy="3245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61570" y="3417700"/>
            <a:ext cx="2638700" cy="1517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 Memory</a:t>
            </a:r>
            <a:endParaRPr/>
          </a:p>
        </p:txBody>
      </p:sp>
      <p:sp>
        <p:nvSpPr>
          <p:cNvPr id="209" name="Google Shape;209;p19"/>
          <p:cNvSpPr txBox="1"/>
          <p:nvPr>
            <p:ph idx="1" type="body"/>
          </p:nvPr>
        </p:nvSpPr>
        <p:spPr>
          <a:xfrm>
            <a:off x="596575" y="1458175"/>
            <a:ext cx="3742500" cy="3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Takes the byte address from the CPU’s PC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Converts it to an </a:t>
            </a:r>
            <a:r>
              <a:rPr lang="en"/>
              <a:t>instruction</a:t>
            </a:r>
            <a:r>
              <a:rPr lang="en"/>
              <a:t> index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Loads instruction into self.current_instruction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Stores decoded list in self.instruction[ ]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CPU utilizes getter functions to read the fields from the fetched instructions.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Will safely return 0 or ‘none’ if there is no current instruction</a:t>
            </a:r>
            <a:endParaRPr/>
          </a:p>
        </p:txBody>
      </p:sp>
      <p:pic>
        <p:nvPicPr>
          <p:cNvPr id="210" name="Google Shape;2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9075" y="1168800"/>
            <a:ext cx="4749799" cy="317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Register File</a:t>
            </a:r>
            <a:endParaRPr/>
          </a:p>
        </p:txBody>
      </p:sp>
      <p:sp>
        <p:nvSpPr>
          <p:cNvPr id="216" name="Google Shape;216;p20"/>
          <p:cNvSpPr txBox="1"/>
          <p:nvPr>
            <p:ph idx="1" type="body"/>
          </p:nvPr>
        </p:nvSpPr>
        <p:spPr>
          <a:xfrm>
            <a:off x="878550" y="1567550"/>
            <a:ext cx="2589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Array of 32 values for reg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read - returns value of register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write - limited to 32 bits</a:t>
            </a:r>
            <a:endParaRPr/>
          </a:p>
        </p:txBody>
      </p:sp>
      <p:pic>
        <p:nvPicPr>
          <p:cNvPr id="217" name="Google Shape;2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3200" y="393750"/>
            <a:ext cx="5052075" cy="449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Memory</a:t>
            </a:r>
            <a:endParaRPr/>
          </a:p>
        </p:txBody>
      </p:sp>
      <p:sp>
        <p:nvSpPr>
          <p:cNvPr id="223" name="Google Shape;223;p21"/>
          <p:cNvSpPr txBox="1"/>
          <p:nvPr>
            <p:ph idx="1" type="body"/>
          </p:nvPr>
        </p:nvSpPr>
        <p:spPr>
          <a:xfrm>
            <a:off x="3507350" y="1780225"/>
            <a:ext cx="5065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class declared with variable size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checks for address out of range/alignment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read32 returns bytes in little-endian order, shifting left for larger values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write32 does the same but writes to memory instead of returning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Also has read8 and write8 functions</a:t>
            </a:r>
            <a:endParaRPr/>
          </a:p>
        </p:txBody>
      </p:sp>
      <p:pic>
        <p:nvPicPr>
          <p:cNvPr id="224" name="Google Shape;2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8138" y="336813"/>
            <a:ext cx="309562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900" y="951675"/>
            <a:ext cx="2910475" cy="4009549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/>
          <p:nvPr/>
        </p:nvSpPr>
        <p:spPr>
          <a:xfrm>
            <a:off x="569750" y="2723275"/>
            <a:ext cx="1593600" cy="15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569750" y="4070975"/>
            <a:ext cx="1593600" cy="15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2418475" y="2032000"/>
            <a:ext cx="772800" cy="15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ALU Class</a:t>
            </a:r>
            <a:endParaRPr/>
          </a:p>
        </p:txBody>
      </p:sp>
      <p:sp>
        <p:nvSpPr>
          <p:cNvPr id="234" name="Google Shape;234;p22"/>
          <p:cNvSpPr txBox="1"/>
          <p:nvPr>
            <p:ph idx="1" type="body"/>
          </p:nvPr>
        </p:nvSpPr>
        <p:spPr>
          <a:xfrm>
            <a:off x="652425" y="1431750"/>
            <a:ext cx="36423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Checks which operand with match statement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Stores result in class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Sets flag when the result is zero for BEQ statements</a:t>
            </a:r>
            <a:endParaRPr/>
          </a:p>
        </p:txBody>
      </p:sp>
      <p:pic>
        <p:nvPicPr>
          <p:cNvPr id="235" name="Google Shape;23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7175" y="770725"/>
            <a:ext cx="4447249" cy="388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CPU Class</a:t>
            </a:r>
            <a:endParaRPr/>
          </a:p>
        </p:txBody>
      </p:sp>
      <p:sp>
        <p:nvSpPr>
          <p:cNvPr id="241" name="Google Shape;241;p23"/>
          <p:cNvSpPr txBox="1"/>
          <p:nvPr>
            <p:ph idx="1" type="body"/>
          </p:nvPr>
        </p:nvSpPr>
        <p:spPr>
          <a:xfrm>
            <a:off x="0" y="1385938"/>
            <a:ext cx="3036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Handles The connections between each component</a:t>
            </a:r>
            <a:br>
              <a:rPr lang="en"/>
            </a:br>
            <a:r>
              <a:rPr lang="en"/>
              <a:t> And </a:t>
            </a:r>
            <a:r>
              <a:rPr lang="en"/>
              <a:t>controls</a:t>
            </a:r>
            <a:r>
              <a:rPr lang="en"/>
              <a:t> when they are run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Contains instances of the Instruction Memory, </a:t>
            </a:r>
            <a:r>
              <a:rPr lang="en"/>
              <a:t>Register</a:t>
            </a:r>
            <a:r>
              <a:rPr lang="en"/>
              <a:t> File, ALU, and Data Memory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- Holds the state </a:t>
            </a:r>
            <a:r>
              <a:rPr lang="en"/>
              <a:t>registers stored as dictionaries </a:t>
            </a:r>
            <a:endParaRPr/>
          </a:p>
        </p:txBody>
      </p:sp>
      <p:pic>
        <p:nvPicPr>
          <p:cNvPr id="242" name="Google Shape;24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1575" y="1497525"/>
            <a:ext cx="6219251" cy="268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CPU Class main flow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4"/>
          <p:cNvSpPr txBox="1"/>
          <p:nvPr>
            <p:ph idx="1" type="body"/>
          </p:nvPr>
        </p:nvSpPr>
        <p:spPr>
          <a:xfrm>
            <a:off x="54526" y="1502300"/>
            <a:ext cx="30993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Gets the control signals of the current instruction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Runs each component with the values from the state registers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updates the program counter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Updates the state register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Finally run the write back of the register file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9" name="Google Shape;24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0325" y="1580709"/>
            <a:ext cx="5990176" cy="22821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Simulator Website - How it works </a:t>
            </a:r>
            <a:endParaRPr/>
          </a:p>
        </p:txBody>
      </p:sp>
      <p:sp>
        <p:nvSpPr>
          <p:cNvPr id="255" name="Google Shape;255;p25"/>
          <p:cNvSpPr txBox="1"/>
          <p:nvPr>
            <p:ph idx="1" type="body"/>
          </p:nvPr>
        </p:nvSpPr>
        <p:spPr>
          <a:xfrm>
            <a:off x="733350" y="1307850"/>
            <a:ext cx="4540800" cy="3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HTML - UI  contains: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.asm file dropdown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Text area for </a:t>
            </a:r>
            <a:r>
              <a:rPr lang="en"/>
              <a:t>assembly</a:t>
            </a:r>
            <a:r>
              <a:rPr lang="en"/>
              <a:t> input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Run button with a Debug checkbox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Output containers for registers, memory, and debug trace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Backend - Bridge between frontend and  simulator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Browser “speaks” in HTTP so web page can’t communicate with python code directly.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Web server passes assembly source into the CPU through the backend  then  returns a report in JSON.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 returned report gets rendered as HTML elements on the web page for the user to browse.</a:t>
            </a:r>
            <a:endParaRPr/>
          </a:p>
        </p:txBody>
      </p:sp>
      <p:pic>
        <p:nvPicPr>
          <p:cNvPr id="256" name="Google Shape;25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4150" y="1082175"/>
            <a:ext cx="3565050" cy="3502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 Mode</a:t>
            </a:r>
            <a:endParaRPr/>
          </a:p>
        </p:txBody>
      </p:sp>
      <p:sp>
        <p:nvSpPr>
          <p:cNvPr id="262" name="Google Shape;262;p26"/>
          <p:cNvSpPr txBox="1"/>
          <p:nvPr>
            <p:ph idx="1" type="body"/>
          </p:nvPr>
        </p:nvSpPr>
        <p:spPr>
          <a:xfrm>
            <a:off x="720300" y="1307850"/>
            <a:ext cx="3851700" cy="44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Debug mode makes the simulator record a snapshot after every cycle.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When you check the Debug option -&gt; toggles Debug to True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Creates array of per-cycle snapshot from functions in CPU.py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Each cycle returns control signals and state register content.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web page then displays </a:t>
            </a:r>
            <a:r>
              <a:rPr lang="en"/>
              <a:t>control signals</a:t>
            </a:r>
            <a:r>
              <a:rPr lang="en"/>
              <a:t> and state registers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returned snapshot contains: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Cycle: current cycle counter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PC: current program counter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Instruction: fetched instruction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controlSignals: tracked signals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stateRegisters: </a:t>
            </a:r>
            <a:r>
              <a:rPr lang="en"/>
              <a:t>dictionary</a:t>
            </a:r>
            <a:r>
              <a:rPr lang="en"/>
              <a:t> of pipeline registers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Memory: full memory word state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3" name="Google Shape;26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675099"/>
            <a:ext cx="2457775" cy="10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0525" y="1966588"/>
            <a:ext cx="2796248" cy="3048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Simulator Demo</a:t>
            </a:r>
            <a:endParaRPr/>
          </a:p>
        </p:txBody>
      </p:sp>
      <p:sp>
        <p:nvSpPr>
          <p:cNvPr id="270" name="Google Shape;270;p27"/>
          <p:cNvSpPr txBox="1"/>
          <p:nvPr>
            <p:ph idx="1" type="body"/>
          </p:nvPr>
        </p:nvSpPr>
        <p:spPr>
          <a:xfrm>
            <a:off x="1250225" y="15990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