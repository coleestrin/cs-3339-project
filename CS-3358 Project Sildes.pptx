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"/>
      <p:regular r:id="rId20"/>
      <p:bold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schemas.openxmlformats.org/officeDocument/2006/relationships/font" Target="fonts/Montserrat-regular.fntdata"/><Relationship Id="rId21" Type="http://schemas.openxmlformats.org/officeDocument/2006/relationships/font" Target="fonts/Play-bold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Cole: intro and readme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6f36c77f_3_2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86f36c77f_3_2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05596c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05596c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6f36c77f_2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86f36c77f_2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778e8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8778e8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7b5d70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87b5d70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86f36c77f_3_2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86f36c77f_3_2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86f36c77f_3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86f36c77f_3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86f36c77f_2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86f36c77f_2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86f36c77f_2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86f36c77f_2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06faaaee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06faaae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8778e80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8778e80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8778e80d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8778e80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87b5d709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87b5d70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subTitle"/>
          </p:nvPr>
        </p:nvSpPr>
        <p:spPr>
          <a:xfrm>
            <a:off x="1805875" y="1710450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2" type="subTitle"/>
          </p:nvPr>
        </p:nvSpPr>
        <p:spPr>
          <a:xfrm>
            <a:off x="1805875" y="1329200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3" type="subTitle"/>
          </p:nvPr>
        </p:nvSpPr>
        <p:spPr>
          <a:xfrm>
            <a:off x="1805875" y="4077725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4" type="subTitle"/>
          </p:nvPr>
        </p:nvSpPr>
        <p:spPr>
          <a:xfrm>
            <a:off x="1805875" y="3696475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idx="5" type="subTitle"/>
          </p:nvPr>
        </p:nvSpPr>
        <p:spPr>
          <a:xfrm>
            <a:off x="1805875" y="2894088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6" type="subTitle"/>
          </p:nvPr>
        </p:nvSpPr>
        <p:spPr>
          <a:xfrm>
            <a:off x="1805875" y="2512838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8" name="Google Shape;138;p13"/>
          <p:cNvSpPr txBox="1"/>
          <p:nvPr>
            <p:ph idx="7" type="subTitle"/>
          </p:nvPr>
        </p:nvSpPr>
        <p:spPr>
          <a:xfrm>
            <a:off x="5660750" y="1710450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13"/>
          <p:cNvSpPr txBox="1"/>
          <p:nvPr>
            <p:ph idx="8" type="subTitle"/>
          </p:nvPr>
        </p:nvSpPr>
        <p:spPr>
          <a:xfrm>
            <a:off x="5660750" y="1329200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9" type="subTitle"/>
          </p:nvPr>
        </p:nvSpPr>
        <p:spPr>
          <a:xfrm>
            <a:off x="5660750" y="4077725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3"/>
          <p:cNvSpPr txBox="1"/>
          <p:nvPr>
            <p:ph idx="13" type="subTitle"/>
          </p:nvPr>
        </p:nvSpPr>
        <p:spPr>
          <a:xfrm>
            <a:off x="5660750" y="3696475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4" type="subTitle"/>
          </p:nvPr>
        </p:nvSpPr>
        <p:spPr>
          <a:xfrm>
            <a:off x="5660750" y="2894088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13"/>
          <p:cNvSpPr txBox="1"/>
          <p:nvPr>
            <p:ph idx="15" type="subTitle"/>
          </p:nvPr>
        </p:nvSpPr>
        <p:spPr>
          <a:xfrm>
            <a:off x="5660750" y="2512838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144" name="Google Shape;144;p13"/>
          <p:cNvGrpSpPr/>
          <p:nvPr/>
        </p:nvGrpSpPr>
        <p:grpSpPr>
          <a:xfrm rot="10800000">
            <a:off x="7218810" y="-1747902"/>
            <a:ext cx="3021722" cy="3146276"/>
            <a:chOff x="-1064015" y="2306598"/>
            <a:chExt cx="3021722" cy="3146276"/>
          </a:xfrm>
        </p:grpSpPr>
        <p:sp>
          <p:nvSpPr>
            <p:cNvPr id="145" name="Google Shape;145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3"/>
          <p:cNvGrpSpPr/>
          <p:nvPr/>
        </p:nvGrpSpPr>
        <p:grpSpPr>
          <a:xfrm rot="10800000">
            <a:off x="-66225" y="2050490"/>
            <a:ext cx="618526" cy="5831511"/>
            <a:chOff x="8626375" y="-2137135"/>
            <a:chExt cx="618526" cy="5831511"/>
          </a:xfrm>
        </p:grpSpPr>
        <p:sp>
          <p:nvSpPr>
            <p:cNvPr id="150" name="Google Shape;150;p13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3"/>
          <p:cNvGrpSpPr/>
          <p:nvPr/>
        </p:nvGrpSpPr>
        <p:grpSpPr>
          <a:xfrm>
            <a:off x="8749262" y="539535"/>
            <a:ext cx="117523" cy="519040"/>
            <a:chOff x="9744987" y="2954335"/>
            <a:chExt cx="117523" cy="519040"/>
          </a:xfrm>
        </p:grpSpPr>
        <p:sp>
          <p:nvSpPr>
            <p:cNvPr id="155" name="Google Shape;155;p13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13"/>
          <p:cNvGrpSpPr/>
          <p:nvPr/>
        </p:nvGrpSpPr>
        <p:grpSpPr>
          <a:xfrm rot="5400000">
            <a:off x="-1353565" y="-944652"/>
            <a:ext cx="3021722" cy="3146276"/>
            <a:chOff x="-1064015" y="2306598"/>
            <a:chExt cx="3021722" cy="3146276"/>
          </a:xfrm>
        </p:grpSpPr>
        <p:sp>
          <p:nvSpPr>
            <p:cNvPr id="162" name="Google Shape;162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3"/>
          <p:cNvGrpSpPr/>
          <p:nvPr/>
        </p:nvGrpSpPr>
        <p:grpSpPr>
          <a:xfrm flipH="1">
            <a:off x="5149127" y="4880776"/>
            <a:ext cx="4088811" cy="4088811"/>
            <a:chOff x="-3640848" y="2185426"/>
            <a:chExt cx="4088811" cy="4088811"/>
          </a:xfrm>
        </p:grpSpPr>
        <p:sp>
          <p:nvSpPr>
            <p:cNvPr id="167" name="Google Shape;167;p13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MIPS Simulator</a:t>
            </a:r>
            <a:endParaRPr/>
          </a:p>
        </p:txBody>
      </p:sp>
      <p:sp>
        <p:nvSpPr>
          <p:cNvPr id="174" name="Google Shape;174;p14"/>
          <p:cNvSpPr txBox="1"/>
          <p:nvPr>
            <p:ph idx="1" type="subTitle"/>
          </p:nvPr>
        </p:nvSpPr>
        <p:spPr>
          <a:xfrm>
            <a:off x="4781175" y="3702050"/>
            <a:ext cx="3773400" cy="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Cole Estrin, </a:t>
            </a:r>
            <a:r>
              <a:rPr lang="en"/>
              <a:t>Mercury Ruane,</a:t>
            </a:r>
            <a:r>
              <a:rPr lang="en"/>
              <a:t> Eric Thompson,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 Villarruel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Sections</a:t>
            </a:r>
            <a:endParaRPr/>
          </a:p>
        </p:txBody>
      </p:sp>
      <p:sp>
        <p:nvSpPr>
          <p:cNvPr id="180" name="Google Shape;180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Overview of Simulator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File Parser and Decoder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Instruction 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Register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CPU Class and State Registers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Simulator, Debug Mode and demo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86" name="Google Shape;186;p16"/>
          <p:cNvSpPr txBox="1"/>
          <p:nvPr>
            <p:ph idx="1" type="body"/>
          </p:nvPr>
        </p:nvSpPr>
        <p:spPr>
          <a:xfrm>
            <a:off x="1297500" y="15754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Languages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Python for main program structure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HTML, CSS, JS for simulator web page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MicroArchitecture resides in the same space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CPU.py puts everything together and runs the simulator.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Simulator web page to </a:t>
            </a:r>
            <a:r>
              <a:rPr lang="en"/>
              <a:t>display</a:t>
            </a:r>
            <a:r>
              <a:rPr lang="en"/>
              <a:t> content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Parsing the File</a:t>
            </a:r>
            <a:endParaRPr/>
          </a:p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798150" y="1395900"/>
            <a:ext cx="43200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Creates a </a:t>
            </a:r>
            <a:r>
              <a:rPr lang="en"/>
              <a:t>register</a:t>
            </a:r>
            <a:r>
              <a:rPr lang="en"/>
              <a:t> and instruction table containing </a:t>
            </a:r>
            <a:r>
              <a:rPr lang="en"/>
              <a:t>register</a:t>
            </a:r>
            <a:r>
              <a:rPr lang="en"/>
              <a:t> index,  instruction types, and opcode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Reads source text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Clean the text by removing comments, blank lines, and separating labels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Removes anything after ( # ) to strip comments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Trims whitespace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Skips empty lines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Checks for labels ( : 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Stores labels in dictionary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Keeps the actual instructions text stored in ‘lines’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550" y="70275"/>
            <a:ext cx="2359850" cy="25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9350" y="2699325"/>
            <a:ext cx="2097050" cy="23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Decoding the File</a:t>
            </a:r>
            <a:endParaRPr/>
          </a:p>
        </p:txBody>
      </p:sp>
      <p:sp>
        <p:nvSpPr>
          <p:cNvPr id="200" name="Google Shape;200;p18"/>
          <p:cNvSpPr txBox="1"/>
          <p:nvPr>
            <p:ph idx="1" type="body"/>
          </p:nvPr>
        </p:nvSpPr>
        <p:spPr>
          <a:xfrm>
            <a:off x="735775" y="1307850"/>
            <a:ext cx="44604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Assembly gets turned into structured fields.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Tokenizes the line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Returns it into a structured format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Looks up instruction format in INSTRUCTION_TABLE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R, I, or J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Builds a dictionary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Handles decoding based on instruction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Register names are converted into their respective index based on the register dictionary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Converts instruction to binary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Builds final instruction 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Loops over every line, decodes, then appends to list</a:t>
            </a:r>
            <a:endParaRPr/>
          </a:p>
        </p:txBody>
      </p:sp>
      <p:pic>
        <p:nvPicPr>
          <p:cNvPr id="201" name="Google Shape;2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800" y="1645963"/>
            <a:ext cx="2228550" cy="11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850" y="94400"/>
            <a:ext cx="2311525" cy="324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1570" y="3417700"/>
            <a:ext cx="2638700" cy="1517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Memory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596575" y="1458175"/>
            <a:ext cx="37425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Takes the byte address from the CPU’s PC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Converts it to an </a:t>
            </a:r>
            <a:r>
              <a:rPr lang="en"/>
              <a:t>instruction</a:t>
            </a:r>
            <a:r>
              <a:rPr lang="en"/>
              <a:t> index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Loads instruction into self.current_instruction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Stores decoded list in self.instruction[ 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CPU utilizes getter functions to read the fields from the fetched instructions.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Will safely return 0 or ‘none’ if there is no current instruction</a:t>
            </a:r>
            <a:endParaRPr/>
          </a:p>
        </p:txBody>
      </p:sp>
      <p:pic>
        <p:nvPicPr>
          <p:cNvPr id="210" name="Google Shape;2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675" y="1383725"/>
            <a:ext cx="4909325" cy="29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File</a:t>
            </a:r>
            <a:endParaRPr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878550" y="1567550"/>
            <a:ext cx="2589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Array of 32 values for reg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 - returns value of register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 - limited to 32 bits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200" y="393750"/>
            <a:ext cx="5052075" cy="44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Memory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3507350" y="1780225"/>
            <a:ext cx="5065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 declared with variable 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checks for address out of range/alignment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read32 returns bytes in little-endian order, shifting left for larger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write32 does the same but writes to memory instead of returning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Also has read8 and write8 functions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138" y="336813"/>
            <a:ext cx="30956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900" y="951675"/>
            <a:ext cx="2910475" cy="40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569750" y="2723275"/>
            <a:ext cx="1593600" cy="15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69750" y="4070975"/>
            <a:ext cx="1593600" cy="15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418475" y="2032000"/>
            <a:ext cx="772800" cy="1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Class</a:t>
            </a:r>
            <a:endParaRPr/>
          </a:p>
        </p:txBody>
      </p:sp>
      <p:sp>
        <p:nvSpPr>
          <p:cNvPr id="234" name="Google Shape;234;p22"/>
          <p:cNvSpPr txBox="1"/>
          <p:nvPr>
            <p:ph idx="1" type="body"/>
          </p:nvPr>
        </p:nvSpPr>
        <p:spPr>
          <a:xfrm>
            <a:off x="652425" y="1431750"/>
            <a:ext cx="3642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Checks which operand with match statement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Stores result in class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Sets flag when the result is zero for BEQ statements</a:t>
            </a:r>
            <a:endParaRPr/>
          </a:p>
        </p:txBody>
      </p:sp>
      <p:pic>
        <p:nvPicPr>
          <p:cNvPr id="235" name="Google Shape;2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175" y="770725"/>
            <a:ext cx="4447249" cy="38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Class</a:t>
            </a:r>
            <a:endParaRPr/>
          </a:p>
        </p:txBody>
      </p:sp>
      <p:sp>
        <p:nvSpPr>
          <p:cNvPr id="241" name="Google Shape;241;p23"/>
          <p:cNvSpPr txBox="1"/>
          <p:nvPr>
            <p:ph idx="1" type="body"/>
          </p:nvPr>
        </p:nvSpPr>
        <p:spPr>
          <a:xfrm>
            <a:off x="0" y="1385938"/>
            <a:ext cx="3036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Handles The connections between each component</a:t>
            </a:r>
            <a:br>
              <a:rPr lang="en"/>
            </a:br>
            <a:r>
              <a:rPr lang="en"/>
              <a:t> And </a:t>
            </a:r>
            <a:r>
              <a:rPr lang="en"/>
              <a:t>controls</a:t>
            </a:r>
            <a:r>
              <a:rPr lang="en"/>
              <a:t> when they are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Contains instances of the Instruction Memory, </a:t>
            </a:r>
            <a:r>
              <a:rPr lang="en"/>
              <a:t>Register</a:t>
            </a:r>
            <a:r>
              <a:rPr lang="en"/>
              <a:t> File, ALU, and Data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Holds the state </a:t>
            </a:r>
            <a:r>
              <a:rPr lang="en"/>
              <a:t>registers stored as dictionaries 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575" y="1497525"/>
            <a:ext cx="6219251" cy="26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Class main 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>
            <p:ph idx="1" type="body"/>
          </p:nvPr>
        </p:nvSpPr>
        <p:spPr>
          <a:xfrm>
            <a:off x="54526" y="1502300"/>
            <a:ext cx="3099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Gets the control signals of the current instruction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Runs each component with the values from the state registers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updates the program counter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Updates the state register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Finally run the write back of the register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325" y="1580709"/>
            <a:ext cx="5990176" cy="2282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Simulator Website - How it works </a:t>
            </a:r>
            <a:endParaRPr/>
          </a:p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733350" y="1307850"/>
            <a:ext cx="45408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HTML - UI  contains: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.asm file dropdown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Text area for </a:t>
            </a:r>
            <a:r>
              <a:rPr lang="en"/>
              <a:t>assembly</a:t>
            </a:r>
            <a:r>
              <a:rPr lang="en"/>
              <a:t> input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Run button with a Debug checkbox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Output containers for registers, memory, and debug trace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Backend - Bridge between frontend and  simulator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Browser “speaks” in HTTP so web page can’t communicate with python code directly.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Web server passes assembly source into the CPU through the backend  then  returns a report in JSON.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returned report gets rendered as HTML elements on the web page for the user to browse.</a:t>
            </a:r>
            <a:endParaRPr/>
          </a:p>
        </p:txBody>
      </p:sp>
      <p:pic>
        <p:nvPicPr>
          <p:cNvPr id="256" name="Google Shape;2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150" y="1082175"/>
            <a:ext cx="3565050" cy="3502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Mode</a:t>
            </a:r>
            <a:endParaRPr/>
          </a:p>
        </p:txBody>
      </p:sp>
      <p:sp>
        <p:nvSpPr>
          <p:cNvPr id="262" name="Google Shape;262;p26"/>
          <p:cNvSpPr txBox="1"/>
          <p:nvPr>
            <p:ph idx="1" type="body"/>
          </p:nvPr>
        </p:nvSpPr>
        <p:spPr>
          <a:xfrm>
            <a:off x="720300" y="1307850"/>
            <a:ext cx="3851700" cy="44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Debug mode makes the simulator record a snapshot after every cycle.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you check the Debug option -&gt; toggles Debug to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Creates array of per-cycle snapshot from functions in CPU.py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cycle returns control signals and state register content.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web page then displays </a:t>
            </a:r>
            <a:r>
              <a:rPr lang="en"/>
              <a:t>control signals</a:t>
            </a:r>
            <a:r>
              <a:rPr lang="en"/>
              <a:t> and state registers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returned snapshot contains: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Cycle: current cycle counter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PC: current program counter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Instruction: fetched instruction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controlSignals: tracked signals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stateRegisters: </a:t>
            </a:r>
            <a:r>
              <a:rPr lang="en"/>
              <a:t>dictionary</a:t>
            </a:r>
            <a:r>
              <a:rPr lang="en"/>
              <a:t> of pipeline registers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Memory: full memory word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75099"/>
            <a:ext cx="2457775" cy="10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525" y="1966588"/>
            <a:ext cx="2796248" cy="304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Simulator Demo</a:t>
            </a:r>
            <a:endParaRPr/>
          </a:p>
        </p:txBody>
      </p:sp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1250225" y="15990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